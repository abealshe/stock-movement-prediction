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13" Target="../media/image11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40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Relationship Id="rId4" Target="../media/image41.png" Type="http://schemas.openxmlformats.org/officeDocument/2006/relationships/image"/><Relationship Id="rId5" Target="../media/image13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16" Target="../media/image63.png" Type="http://schemas.openxmlformats.org/officeDocument/2006/relationships/image"/><Relationship Id="rId17" Target="../media/image64.png" Type="http://schemas.openxmlformats.org/officeDocument/2006/relationships/image"/><Relationship Id="rId18" Target="../media/image65.png" Type="http://schemas.openxmlformats.org/officeDocument/2006/relationships/image"/><Relationship Id="rId19" Target="../media/image6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Relationship Id="rId4" Target="../media/image4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74.png" Type="http://schemas.openxmlformats.org/officeDocument/2006/relationships/image"/><Relationship Id="rId13" Target="../media/image75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78.png" Type="http://schemas.openxmlformats.org/officeDocument/2006/relationships/image"/><Relationship Id="rId17" Target="../media/image79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41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14400" y="2571750"/>
            <a:ext cx="5486400" cy="28575"/>
            <a:chOff x="0" y="0"/>
            <a:chExt cx="7315200" cy="381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7315200" cy="38100"/>
            </a:xfrm>
            <a:custGeom>
              <a:avLst/>
              <a:gdLst/>
              <a:ahLst/>
              <a:cxnLst/>
              <a:rect r="r" b="b" t="t" l="l"/>
              <a:pathLst>
                <a:path h="381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657600" y="3600450"/>
            <a:ext cx="7315200" cy="28575"/>
            <a:chOff x="0" y="0"/>
            <a:chExt cx="9753600" cy="381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753600" cy="38100"/>
            </a:xfrm>
            <a:custGeom>
              <a:avLst/>
              <a:gdLst/>
              <a:ahLst/>
              <a:cxnLst/>
              <a:rect r="r" b="b" t="t" l="l"/>
              <a:pathLst>
                <a:path h="381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743200" y="4629150"/>
            <a:ext cx="6400800" cy="28575"/>
            <a:chOff x="0" y="0"/>
            <a:chExt cx="8534400" cy="381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534400" cy="38100"/>
            </a:xfrm>
            <a:custGeom>
              <a:avLst/>
              <a:gdLst/>
              <a:ahLst/>
              <a:cxnLst/>
              <a:rect r="r" b="b" t="t" l="l"/>
              <a:pathLst>
                <a:path h="381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486400" y="5657850"/>
            <a:ext cx="8229600" cy="28575"/>
            <a:chOff x="0" y="0"/>
            <a:chExt cx="10972800" cy="381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972800" cy="38100"/>
            </a:xfrm>
            <a:custGeom>
              <a:avLst/>
              <a:gdLst/>
              <a:ahLst/>
              <a:cxnLst/>
              <a:rect r="r" b="b" t="t" l="l"/>
              <a:pathLst>
                <a:path h="381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828800" y="3086100"/>
            <a:ext cx="114300" cy="114300"/>
            <a:chOff x="0" y="0"/>
            <a:chExt cx="152400" cy="1524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572000" y="2057400"/>
            <a:ext cx="114300" cy="114300"/>
            <a:chOff x="0" y="0"/>
            <a:chExt cx="152400" cy="1524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7315200" y="4114800"/>
            <a:ext cx="114300" cy="114300"/>
            <a:chOff x="0" y="0"/>
            <a:chExt cx="152400" cy="1524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0972800" y="3600450"/>
            <a:ext cx="114300" cy="114300"/>
            <a:chOff x="0" y="0"/>
            <a:chExt cx="152400" cy="1524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630400" y="4629150"/>
            <a:ext cx="114300" cy="114300"/>
            <a:chOff x="0" y="0"/>
            <a:chExt cx="152400" cy="1524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8229600" y="2828925"/>
            <a:ext cx="1828800" cy="57150"/>
            <a:chOff x="0" y="0"/>
            <a:chExt cx="2438400" cy="762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7858125" y="6157912"/>
            <a:ext cx="914400" cy="28575"/>
            <a:chOff x="0" y="0"/>
            <a:chExt cx="1219200" cy="381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219200" cy="38100"/>
            </a:xfrm>
            <a:custGeom>
              <a:avLst/>
              <a:gdLst/>
              <a:ahLst/>
              <a:cxnLst/>
              <a:rect r="r" b="b" t="t" l="l"/>
              <a:pathLst>
                <a:path h="381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001125" y="5972175"/>
            <a:ext cx="285750" cy="400050"/>
            <a:chOff x="0" y="0"/>
            <a:chExt cx="381000" cy="5334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810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515475" y="6157912"/>
            <a:ext cx="914400" cy="28575"/>
            <a:chOff x="0" y="0"/>
            <a:chExt cx="1219200" cy="381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219200" cy="38100"/>
            </a:xfrm>
            <a:custGeom>
              <a:avLst/>
              <a:gdLst/>
              <a:ahLst/>
              <a:cxnLst/>
              <a:rect r="r" b="b" t="t" l="l"/>
              <a:pathLst>
                <a:path h="381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0" y="9944100"/>
            <a:ext cx="18288000" cy="342900"/>
            <a:chOff x="0" y="0"/>
            <a:chExt cx="24384000" cy="4572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24384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14400" y="3409950"/>
            <a:ext cx="16459200" cy="75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 for Stock Direction Prediction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731520" y="5000625"/>
            <a:ext cx="197510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7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 Project Implementing an ML Model with a Real-World Dataset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6981825"/>
            <a:ext cx="164592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025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Prepared by: Abeer AlShehri, Abeer Alqarni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7489494"/>
            <a:ext cx="16459200" cy="35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</a:pPr>
            <a:r>
              <a:rPr lang="en-US" sz="1825" b="true">
                <a:solidFill>
                  <a:srgbClr val="6B7280"/>
                </a:solidFill>
                <a:latin typeface="Arimo Bold"/>
                <a:ea typeface="Arimo Bold"/>
                <a:cs typeface="Arimo Bold"/>
                <a:sym typeface="Arimo Bold"/>
              </a:rPr>
              <a:t> Dr. Abrar Wafa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29674" y="3899080"/>
            <a:ext cx="8085676" cy="2049501"/>
            <a:chOff x="0" y="0"/>
            <a:chExt cx="2129561" cy="5397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9561" cy="539786"/>
            </a:xfrm>
            <a:custGeom>
              <a:avLst/>
              <a:gdLst/>
              <a:ahLst/>
              <a:cxnLst/>
              <a:rect r="r" b="b" t="t" l="l"/>
              <a:pathLst>
                <a:path h="539786" w="2129561">
                  <a:moveTo>
                    <a:pt x="14362" y="0"/>
                  </a:moveTo>
                  <a:lnTo>
                    <a:pt x="2115198" y="0"/>
                  </a:lnTo>
                  <a:cubicBezTo>
                    <a:pt x="2123130" y="0"/>
                    <a:pt x="2129561" y="6430"/>
                    <a:pt x="2129561" y="14362"/>
                  </a:cubicBezTo>
                  <a:lnTo>
                    <a:pt x="2129561" y="525424"/>
                  </a:lnTo>
                  <a:cubicBezTo>
                    <a:pt x="2129561" y="533356"/>
                    <a:pt x="2123130" y="539786"/>
                    <a:pt x="2115198" y="539786"/>
                  </a:cubicBezTo>
                  <a:lnTo>
                    <a:pt x="14362" y="539786"/>
                  </a:lnTo>
                  <a:cubicBezTo>
                    <a:pt x="6430" y="539786"/>
                    <a:pt x="0" y="533356"/>
                    <a:pt x="0" y="525424"/>
                  </a:cubicBezTo>
                  <a:lnTo>
                    <a:pt x="0" y="14362"/>
                  </a:lnTo>
                  <a:cubicBezTo>
                    <a:pt x="0" y="6430"/>
                    <a:pt x="6430" y="0"/>
                    <a:pt x="1436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29561" cy="587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9674" y="1519833"/>
            <a:ext cx="8085676" cy="2049501"/>
            <a:chOff x="0" y="0"/>
            <a:chExt cx="2129561" cy="5397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9561" cy="539786"/>
            </a:xfrm>
            <a:custGeom>
              <a:avLst/>
              <a:gdLst/>
              <a:ahLst/>
              <a:cxnLst/>
              <a:rect r="r" b="b" t="t" l="l"/>
              <a:pathLst>
                <a:path h="539786" w="2129561">
                  <a:moveTo>
                    <a:pt x="14362" y="0"/>
                  </a:moveTo>
                  <a:lnTo>
                    <a:pt x="2115198" y="0"/>
                  </a:lnTo>
                  <a:cubicBezTo>
                    <a:pt x="2123130" y="0"/>
                    <a:pt x="2129561" y="6430"/>
                    <a:pt x="2129561" y="14362"/>
                  </a:cubicBezTo>
                  <a:lnTo>
                    <a:pt x="2129561" y="525424"/>
                  </a:lnTo>
                  <a:cubicBezTo>
                    <a:pt x="2129561" y="533356"/>
                    <a:pt x="2123130" y="539786"/>
                    <a:pt x="2115198" y="539786"/>
                  </a:cubicBezTo>
                  <a:lnTo>
                    <a:pt x="14362" y="539786"/>
                  </a:lnTo>
                  <a:cubicBezTo>
                    <a:pt x="6430" y="539786"/>
                    <a:pt x="0" y="533356"/>
                    <a:pt x="0" y="525424"/>
                  </a:cubicBezTo>
                  <a:lnTo>
                    <a:pt x="0" y="14362"/>
                  </a:lnTo>
                  <a:cubicBezTo>
                    <a:pt x="0" y="6430"/>
                    <a:pt x="6430" y="0"/>
                    <a:pt x="1436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29561" cy="587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571500" y="1257300"/>
            <a:ext cx="1828800" cy="57150"/>
            <a:chOff x="0" y="0"/>
            <a:chExt cx="2438400" cy="762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571500" y="1685925"/>
            <a:ext cx="342900" cy="342900"/>
            <a:chOff x="0" y="0"/>
            <a:chExt cx="457200" cy="4572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71500" y="581025"/>
            <a:ext cx="743315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Proj</a:t>
            </a: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ect Overview &amp; Objectives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600200"/>
            <a:ext cx="8115300" cy="46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Project 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1500" y="2200275"/>
            <a:ext cx="8115300" cy="120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1"/>
              </a:lnSpc>
            </a:pP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Developed a machine learning system to forecast daily stock price direction by integrating financial news sentiment and technical market indicators.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1500" y="9382125"/>
            <a:ext cx="50698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Machine Learning for Stock Direction Prediction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15990" y="9382125"/>
            <a:ext cx="60061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 / 10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686800" y="1519833"/>
            <a:ext cx="8401050" cy="7324348"/>
            <a:chOff x="0" y="0"/>
            <a:chExt cx="2212622" cy="19290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622" cy="1929046"/>
            </a:xfrm>
            <a:custGeom>
              <a:avLst/>
              <a:gdLst/>
              <a:ahLst/>
              <a:cxnLst/>
              <a:rect r="r" b="b" t="t" l="l"/>
              <a:pathLst>
                <a:path h="1929046" w="2212622">
                  <a:moveTo>
                    <a:pt x="13823" y="0"/>
                  </a:moveTo>
                  <a:lnTo>
                    <a:pt x="2198799" y="0"/>
                  </a:lnTo>
                  <a:cubicBezTo>
                    <a:pt x="2202465" y="0"/>
                    <a:pt x="2205981" y="1456"/>
                    <a:pt x="2208574" y="4049"/>
                  </a:cubicBezTo>
                  <a:cubicBezTo>
                    <a:pt x="2211166" y="6641"/>
                    <a:pt x="2212622" y="10157"/>
                    <a:pt x="2212622" y="13823"/>
                  </a:cubicBezTo>
                  <a:lnTo>
                    <a:pt x="2212622" y="1915223"/>
                  </a:lnTo>
                  <a:cubicBezTo>
                    <a:pt x="2212622" y="1918889"/>
                    <a:pt x="2211166" y="1922405"/>
                    <a:pt x="2208574" y="1924997"/>
                  </a:cubicBezTo>
                  <a:cubicBezTo>
                    <a:pt x="2205981" y="1927590"/>
                    <a:pt x="2202465" y="1929046"/>
                    <a:pt x="2198799" y="1929046"/>
                  </a:cubicBezTo>
                  <a:lnTo>
                    <a:pt x="13823" y="1929046"/>
                  </a:lnTo>
                  <a:cubicBezTo>
                    <a:pt x="10157" y="1929046"/>
                    <a:pt x="6641" y="1927590"/>
                    <a:pt x="4049" y="1924997"/>
                  </a:cubicBezTo>
                  <a:cubicBezTo>
                    <a:pt x="1456" y="1922405"/>
                    <a:pt x="0" y="1918889"/>
                    <a:pt x="0" y="1915223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12622" cy="1976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029700" y="1944886"/>
            <a:ext cx="342900" cy="342900"/>
            <a:chOff x="0" y="0"/>
            <a:chExt cx="457200" cy="4572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458700" y="2880717"/>
            <a:ext cx="857250" cy="857250"/>
            <a:chOff x="0" y="0"/>
            <a:chExt cx="1143000" cy="1143000"/>
          </a:xfrm>
        </p:grpSpPr>
        <p:grpSp>
          <p:nvGrpSpPr>
            <p:cNvPr name="Group 26" id="26"/>
            <p:cNvGrpSpPr>
              <a:grpSpLocks noChangeAspect="true"/>
            </p:cNvGrpSpPr>
            <p:nvPr/>
          </p:nvGrpSpPr>
          <p:grpSpPr>
            <a:xfrm rot="0">
              <a:off x="0" y="0"/>
              <a:ext cx="1143000" cy="1143000"/>
              <a:chOff x="0" y="0"/>
              <a:chExt cx="1143000" cy="1143000"/>
            </a:xfrm>
          </p:grpSpPr>
          <p:sp>
            <p:nvSpPr>
              <p:cNvPr name="Freeform 27" id="27" descr="preencoded.png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0" y="0"/>
                    </a:moveTo>
                    <a:lnTo>
                      <a:pt x="1143000" y="0"/>
                    </a:lnTo>
                    <a:lnTo>
                      <a:pt x="1143000" y="1143000"/>
                    </a:lnTo>
                    <a:lnTo>
                      <a:pt x="0" y="1143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285750" y="228600"/>
              <a:ext cx="571500" cy="685800"/>
              <a:chOff x="0" y="0"/>
              <a:chExt cx="571500" cy="685800"/>
            </a:xfrm>
          </p:grpSpPr>
          <p:sp>
            <p:nvSpPr>
              <p:cNvPr name="Freeform 29" id="29" descr="preencoded.png"/>
              <p:cNvSpPr/>
              <p:nvPr/>
            </p:nvSpPr>
            <p:spPr>
              <a:xfrm flipH="false" flipV="false" rot="0">
                <a:off x="0" y="0"/>
                <a:ext cx="5715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5715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685800"/>
                    </a:lnTo>
                    <a:lnTo>
                      <a:pt x="0" y="685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8929688" y="6443881"/>
            <a:ext cx="357188" cy="285750"/>
            <a:chOff x="0" y="0"/>
            <a:chExt cx="476250" cy="381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544050" y="1830586"/>
            <a:ext cx="77152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Primary Goal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029700" y="3847505"/>
            <a:ext cx="7715250" cy="149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22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Construct and evaluate a predictive model capable of forecasting whether a stock's closing price would rise or fall on the subsequent trading day.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01175" y="6329581"/>
            <a:ext cx="77152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Key Approaches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86838" y="6882031"/>
            <a:ext cx="91897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3150"/>
              </a:lnSpc>
              <a:buFont typeface="Arial"/>
              <a:buChar char="•"/>
            </a:pP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Technical indicators from historical price and volume data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86838" y="7396381"/>
            <a:ext cx="91897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3150"/>
              </a:lnSpc>
              <a:buFont typeface="Arial"/>
              <a:buChar char="•"/>
            </a:pP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Sentiment indices based on financial news</a:t>
            </a:r>
          </a:p>
        </p:txBody>
      </p: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571500" y="4113015"/>
            <a:ext cx="257175" cy="342900"/>
            <a:chOff x="0" y="0"/>
            <a:chExt cx="342900" cy="4572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571500" y="4798815"/>
            <a:ext cx="257175" cy="257175"/>
            <a:chOff x="0" y="0"/>
            <a:chExt cx="342900" cy="3429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571500" y="5370315"/>
            <a:ext cx="257175" cy="257175"/>
            <a:chOff x="0" y="0"/>
            <a:chExt cx="342900" cy="3429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00125" y="3998715"/>
            <a:ext cx="77152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Project Scope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0125" y="4665465"/>
            <a:ext cx="670771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Developed as a prototype for predictive modeling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00125" y="5236965"/>
            <a:ext cx="78060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Not intended to function as an operational trading system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29674" y="6182698"/>
            <a:ext cx="8085676" cy="2698859"/>
            <a:chOff x="0" y="0"/>
            <a:chExt cx="2129561" cy="7108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29561" cy="710811"/>
            </a:xfrm>
            <a:custGeom>
              <a:avLst/>
              <a:gdLst/>
              <a:ahLst/>
              <a:cxnLst/>
              <a:rect r="r" b="b" t="t" l="l"/>
              <a:pathLst>
                <a:path h="710811" w="2129561">
                  <a:moveTo>
                    <a:pt x="14362" y="0"/>
                  </a:moveTo>
                  <a:lnTo>
                    <a:pt x="2115198" y="0"/>
                  </a:lnTo>
                  <a:cubicBezTo>
                    <a:pt x="2123130" y="0"/>
                    <a:pt x="2129561" y="6430"/>
                    <a:pt x="2129561" y="14362"/>
                  </a:cubicBezTo>
                  <a:lnTo>
                    <a:pt x="2129561" y="696448"/>
                  </a:lnTo>
                  <a:cubicBezTo>
                    <a:pt x="2129561" y="704380"/>
                    <a:pt x="2123130" y="710811"/>
                    <a:pt x="2115198" y="710811"/>
                  </a:cubicBezTo>
                  <a:lnTo>
                    <a:pt x="14362" y="710811"/>
                  </a:lnTo>
                  <a:cubicBezTo>
                    <a:pt x="6430" y="710811"/>
                    <a:pt x="0" y="704380"/>
                    <a:pt x="0" y="696448"/>
                  </a:cubicBezTo>
                  <a:lnTo>
                    <a:pt x="0" y="14362"/>
                  </a:lnTo>
                  <a:cubicBezTo>
                    <a:pt x="0" y="6430"/>
                    <a:pt x="6430" y="0"/>
                    <a:pt x="1436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129561" cy="75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700088" y="6443881"/>
            <a:ext cx="342900" cy="342900"/>
            <a:chOff x="0" y="0"/>
            <a:chExt cx="457200" cy="45720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>
            <a:grpSpLocks noChangeAspect="true"/>
          </p:cNvGrpSpPr>
          <p:nvPr/>
        </p:nvGrpSpPr>
        <p:grpSpPr>
          <a:xfrm rot="0">
            <a:off x="700088" y="7129681"/>
            <a:ext cx="257175" cy="257175"/>
            <a:chOff x="0" y="0"/>
            <a:chExt cx="342900" cy="34290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>
            <a:grpSpLocks noChangeAspect="true"/>
          </p:cNvGrpSpPr>
          <p:nvPr/>
        </p:nvGrpSpPr>
        <p:grpSpPr>
          <a:xfrm rot="0">
            <a:off x="700088" y="8101231"/>
            <a:ext cx="257175" cy="257175"/>
            <a:chOff x="0" y="0"/>
            <a:chExt cx="342900" cy="34290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214438" y="6329581"/>
            <a:ext cx="77152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Key Constraints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28712" y="6996331"/>
            <a:ext cx="728662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Data Limitation:</a:t>
            </a: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Absence of timestamps in news data prevented temporal correlation with stock prices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28712" y="7967881"/>
            <a:ext cx="728662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Dataset Size:</a:t>
            </a: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Final dataset of 1255 samples was relatively small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571500" y="1257300"/>
            <a:ext cx="1828800" cy="57150"/>
            <a:chOff x="0" y="0"/>
            <a:chExt cx="24384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571500" y="581025"/>
            <a:ext cx="8403783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Sys</a:t>
            </a: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tem Diagram and Models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500" y="9382125"/>
            <a:ext cx="50698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Machine Learning for Stock Direction Prediction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15990" y="9382125"/>
            <a:ext cx="600611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44025" y="493033"/>
            <a:ext cx="3933109" cy="9529534"/>
            <a:chOff x="0" y="0"/>
            <a:chExt cx="1035881" cy="25098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5881" cy="2509836"/>
            </a:xfrm>
            <a:custGeom>
              <a:avLst/>
              <a:gdLst/>
              <a:ahLst/>
              <a:cxnLst/>
              <a:rect r="r" b="b" t="t" l="l"/>
              <a:pathLst>
                <a:path h="2509836" w="1035881">
                  <a:moveTo>
                    <a:pt x="29526" y="0"/>
                  </a:moveTo>
                  <a:lnTo>
                    <a:pt x="1006355" y="0"/>
                  </a:lnTo>
                  <a:cubicBezTo>
                    <a:pt x="1022661" y="0"/>
                    <a:pt x="1035881" y="13219"/>
                    <a:pt x="1035881" y="29526"/>
                  </a:cubicBezTo>
                  <a:lnTo>
                    <a:pt x="1035881" y="2480310"/>
                  </a:lnTo>
                  <a:cubicBezTo>
                    <a:pt x="1035881" y="2496617"/>
                    <a:pt x="1022661" y="2509836"/>
                    <a:pt x="1006355" y="2509836"/>
                  </a:cubicBezTo>
                  <a:lnTo>
                    <a:pt x="29526" y="2509836"/>
                  </a:lnTo>
                  <a:cubicBezTo>
                    <a:pt x="13219" y="2509836"/>
                    <a:pt x="0" y="2496617"/>
                    <a:pt x="0" y="2480310"/>
                  </a:cubicBezTo>
                  <a:lnTo>
                    <a:pt x="0" y="29526"/>
                  </a:lnTo>
                  <a:cubicBezTo>
                    <a:pt x="0" y="13219"/>
                    <a:pt x="13219" y="0"/>
                    <a:pt x="29526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35881" cy="2557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508543" y="585442"/>
            <a:ext cx="3491778" cy="9351818"/>
          </a:xfrm>
          <a:custGeom>
            <a:avLst/>
            <a:gdLst/>
            <a:ahLst/>
            <a:cxnLst/>
            <a:rect r="r" b="b" t="t" l="l"/>
            <a:pathLst>
              <a:path h="9351818" w="3491778">
                <a:moveTo>
                  <a:pt x="0" y="0"/>
                </a:moveTo>
                <a:lnTo>
                  <a:pt x="3491778" y="0"/>
                </a:lnTo>
                <a:lnTo>
                  <a:pt x="3491778" y="9351818"/>
                </a:lnTo>
                <a:lnTo>
                  <a:pt x="0" y="9351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571500" y="1685925"/>
            <a:ext cx="428625" cy="342900"/>
            <a:chOff x="0" y="0"/>
            <a:chExt cx="571500" cy="4572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571500" y="2343150"/>
            <a:ext cx="4000500" cy="1200150"/>
            <a:chOff x="0" y="0"/>
            <a:chExt cx="5334000" cy="16002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334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00100" y="3071812"/>
            <a:ext cx="200025" cy="200025"/>
            <a:chOff x="0" y="0"/>
            <a:chExt cx="266700" cy="2667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4800600" y="2343150"/>
            <a:ext cx="4000500" cy="1200150"/>
            <a:chOff x="0" y="0"/>
            <a:chExt cx="5334000" cy="1600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5334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5029200" y="3071812"/>
            <a:ext cx="200025" cy="200025"/>
            <a:chOff x="0" y="0"/>
            <a:chExt cx="266700" cy="2667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571500" y="3771900"/>
            <a:ext cx="4000500" cy="1200150"/>
            <a:chOff x="0" y="0"/>
            <a:chExt cx="5334000" cy="16002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334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800100" y="4500562"/>
            <a:ext cx="200025" cy="200025"/>
            <a:chOff x="0" y="0"/>
            <a:chExt cx="266700" cy="2667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4800600" y="3771900"/>
            <a:ext cx="4000500" cy="1200150"/>
            <a:chOff x="0" y="0"/>
            <a:chExt cx="5334000" cy="16002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334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5029200" y="4500562"/>
            <a:ext cx="200025" cy="200025"/>
            <a:chOff x="0" y="0"/>
            <a:chExt cx="266700" cy="2667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14425" y="1600200"/>
            <a:ext cx="8229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Algorithm Selection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0100" y="2495550"/>
            <a:ext cx="42519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Logistic Regression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7275" y="2981325"/>
            <a:ext cx="354330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Baseline model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29200" y="2495550"/>
            <a:ext cx="42519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Support Vector Machine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86375" y="2981325"/>
            <a:ext cx="42519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Non-linear patterns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0100" y="3924300"/>
            <a:ext cx="35433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XGBoost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7275" y="4410075"/>
            <a:ext cx="42519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Ensemble learning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029200" y="3924300"/>
            <a:ext cx="35433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LSTM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286375" y="4410075"/>
            <a:ext cx="42519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Sequential data</a:t>
            </a:r>
          </a:p>
        </p:txBody>
      </p: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571500" y="5286375"/>
            <a:ext cx="342900" cy="342900"/>
            <a:chOff x="0" y="0"/>
            <a:chExt cx="457200" cy="4572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3462" y="6029325"/>
            <a:ext cx="8085676" cy="3228975"/>
            <a:chOff x="0" y="0"/>
            <a:chExt cx="2129561" cy="8504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29561" cy="850430"/>
            </a:xfrm>
            <a:custGeom>
              <a:avLst/>
              <a:gdLst/>
              <a:ahLst/>
              <a:cxnLst/>
              <a:rect r="r" b="b" t="t" l="l"/>
              <a:pathLst>
                <a:path h="850430" w="2129561">
                  <a:moveTo>
                    <a:pt x="14362" y="0"/>
                  </a:moveTo>
                  <a:lnTo>
                    <a:pt x="2115198" y="0"/>
                  </a:lnTo>
                  <a:cubicBezTo>
                    <a:pt x="2123130" y="0"/>
                    <a:pt x="2129561" y="6430"/>
                    <a:pt x="2129561" y="14362"/>
                  </a:cubicBezTo>
                  <a:lnTo>
                    <a:pt x="2129561" y="836067"/>
                  </a:lnTo>
                  <a:cubicBezTo>
                    <a:pt x="2129561" y="843999"/>
                    <a:pt x="2123130" y="850430"/>
                    <a:pt x="2115198" y="850430"/>
                  </a:cubicBezTo>
                  <a:lnTo>
                    <a:pt x="14362" y="850430"/>
                  </a:lnTo>
                  <a:cubicBezTo>
                    <a:pt x="6430" y="850430"/>
                    <a:pt x="0" y="843999"/>
                    <a:pt x="0" y="836067"/>
                  </a:cubicBezTo>
                  <a:lnTo>
                    <a:pt x="0" y="14362"/>
                  </a:lnTo>
                  <a:cubicBezTo>
                    <a:pt x="0" y="6430"/>
                    <a:pt x="6430" y="0"/>
                    <a:pt x="1436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129561" cy="898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2771775" y="6886575"/>
            <a:ext cx="5743575" cy="114300"/>
            <a:chOff x="0" y="0"/>
            <a:chExt cx="7658100" cy="15240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7658100" cy="152400"/>
            </a:xfrm>
            <a:custGeom>
              <a:avLst/>
              <a:gdLst/>
              <a:ahLst/>
              <a:cxnLst/>
              <a:rect r="r" b="b" t="t" l="l"/>
              <a:pathLst>
                <a:path h="152400" w="7658100">
                  <a:moveTo>
                    <a:pt x="0" y="0"/>
                  </a:moveTo>
                  <a:lnTo>
                    <a:pt x="7658100" y="0"/>
                  </a:lnTo>
                  <a:lnTo>
                    <a:pt x="76581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2771775" y="7286625"/>
            <a:ext cx="5743575" cy="114300"/>
            <a:chOff x="0" y="0"/>
            <a:chExt cx="7658100" cy="1524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7658100" cy="152400"/>
            </a:xfrm>
            <a:custGeom>
              <a:avLst/>
              <a:gdLst/>
              <a:ahLst/>
              <a:cxnLst/>
              <a:rect r="r" b="b" t="t" l="l"/>
              <a:pathLst>
                <a:path h="152400" w="7658100">
                  <a:moveTo>
                    <a:pt x="0" y="0"/>
                  </a:moveTo>
                  <a:lnTo>
                    <a:pt x="7658100" y="0"/>
                  </a:lnTo>
                  <a:lnTo>
                    <a:pt x="76581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>
            <a:grpSpLocks noChangeAspect="true"/>
          </p:cNvGrpSpPr>
          <p:nvPr/>
        </p:nvGrpSpPr>
        <p:grpSpPr>
          <a:xfrm rot="0">
            <a:off x="2771775" y="7686675"/>
            <a:ext cx="5743575" cy="114300"/>
            <a:chOff x="0" y="0"/>
            <a:chExt cx="7658100" cy="15240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7658100" cy="152400"/>
            </a:xfrm>
            <a:custGeom>
              <a:avLst/>
              <a:gdLst/>
              <a:ahLst/>
              <a:cxnLst/>
              <a:rect r="r" b="b" t="t" l="l"/>
              <a:pathLst>
                <a:path h="152400" w="7658100">
                  <a:moveTo>
                    <a:pt x="0" y="0"/>
                  </a:moveTo>
                  <a:lnTo>
                    <a:pt x="7658100" y="0"/>
                  </a:lnTo>
                  <a:lnTo>
                    <a:pt x="76581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028700" y="5200650"/>
            <a:ext cx="98755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Robust Evaluation Approach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57250" y="6172200"/>
            <a:ext cx="3486150" cy="40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Chronological Data Split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57250" y="6753225"/>
            <a:ext cx="22974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57250" y="7153275"/>
            <a:ext cx="22974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Validation Set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57250" y="7553325"/>
            <a:ext cx="22974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5722" y="8172450"/>
            <a:ext cx="8583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700" b="true">
                <a:solidFill>
                  <a:srgbClr val="16A34A"/>
                </a:solidFill>
                <a:latin typeface="Arial Bold"/>
                <a:ea typeface="Arial Bold"/>
                <a:cs typeface="Arial Bold"/>
                <a:sym typeface="Arial Bold"/>
              </a:rPr>
              <a:t>70%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85722" y="8639175"/>
            <a:ext cx="85832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182465" y="8172450"/>
            <a:ext cx="103646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700" b="true">
                <a:solidFill>
                  <a:srgbClr val="CA8A04"/>
                </a:solidFill>
                <a:latin typeface="Arial Bold"/>
                <a:ea typeface="Arial Bold"/>
                <a:cs typeface="Arial Bold"/>
                <a:sym typeface="Arial Bold"/>
              </a:rPr>
              <a:t>15%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182465" y="8639175"/>
            <a:ext cx="10364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760234" y="8172450"/>
            <a:ext cx="82376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700" b="true">
                <a:solidFill>
                  <a:srgbClr val="2563EB"/>
                </a:solidFill>
                <a:latin typeface="Arial Bold"/>
                <a:ea typeface="Arial Bold"/>
                <a:cs typeface="Arial Bold"/>
                <a:sym typeface="Arial Bold"/>
              </a:rPr>
              <a:t>15%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60234" y="8639175"/>
            <a:ext cx="82376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3896259" y="1314450"/>
            <a:ext cx="2747497" cy="8401050"/>
            <a:chOff x="0" y="0"/>
            <a:chExt cx="723621" cy="221262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3621" cy="2212622"/>
            </a:xfrm>
            <a:custGeom>
              <a:avLst/>
              <a:gdLst/>
              <a:ahLst/>
              <a:cxnLst/>
              <a:rect r="r" b="b" t="t" l="l"/>
              <a:pathLst>
                <a:path h="2212622" w="723621">
                  <a:moveTo>
                    <a:pt x="42267" y="0"/>
                  </a:moveTo>
                  <a:lnTo>
                    <a:pt x="681353" y="0"/>
                  </a:lnTo>
                  <a:cubicBezTo>
                    <a:pt x="704697" y="0"/>
                    <a:pt x="723621" y="18924"/>
                    <a:pt x="723621" y="42267"/>
                  </a:cubicBezTo>
                  <a:lnTo>
                    <a:pt x="723621" y="2170355"/>
                  </a:lnTo>
                  <a:cubicBezTo>
                    <a:pt x="723621" y="2193699"/>
                    <a:pt x="704697" y="2212622"/>
                    <a:pt x="681353" y="2212622"/>
                  </a:cubicBezTo>
                  <a:lnTo>
                    <a:pt x="42267" y="2212622"/>
                  </a:lnTo>
                  <a:cubicBezTo>
                    <a:pt x="31057" y="2212622"/>
                    <a:pt x="20306" y="2208169"/>
                    <a:pt x="12380" y="2200243"/>
                  </a:cubicBezTo>
                  <a:cubicBezTo>
                    <a:pt x="4453" y="2192316"/>
                    <a:pt x="0" y="2181565"/>
                    <a:pt x="0" y="2170355"/>
                  </a:cubicBezTo>
                  <a:lnTo>
                    <a:pt x="0" y="42267"/>
                  </a:lnTo>
                  <a:cubicBezTo>
                    <a:pt x="0" y="31057"/>
                    <a:pt x="4453" y="20306"/>
                    <a:pt x="12380" y="12380"/>
                  </a:cubicBezTo>
                  <a:cubicBezTo>
                    <a:pt x="20306" y="4453"/>
                    <a:pt x="31057" y="0"/>
                    <a:pt x="42267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723621" cy="2260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123445" y="6401453"/>
            <a:ext cx="2335086" cy="1492414"/>
            <a:chOff x="0" y="0"/>
            <a:chExt cx="853300" cy="54536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53300" cy="545366"/>
            </a:xfrm>
            <a:custGeom>
              <a:avLst/>
              <a:gdLst/>
              <a:ahLst/>
              <a:cxnLst/>
              <a:rect r="r" b="b" t="t" l="l"/>
              <a:pathLst>
                <a:path h="545366" w="853300">
                  <a:moveTo>
                    <a:pt x="46417" y="0"/>
                  </a:moveTo>
                  <a:lnTo>
                    <a:pt x="806883" y="0"/>
                  </a:lnTo>
                  <a:cubicBezTo>
                    <a:pt x="832518" y="0"/>
                    <a:pt x="853300" y="20781"/>
                    <a:pt x="853300" y="46417"/>
                  </a:cubicBezTo>
                  <a:lnTo>
                    <a:pt x="853300" y="498949"/>
                  </a:lnTo>
                  <a:cubicBezTo>
                    <a:pt x="853300" y="524585"/>
                    <a:pt x="832518" y="545366"/>
                    <a:pt x="806883" y="545366"/>
                  </a:cubicBezTo>
                  <a:lnTo>
                    <a:pt x="46417" y="545366"/>
                  </a:lnTo>
                  <a:cubicBezTo>
                    <a:pt x="34106" y="545366"/>
                    <a:pt x="22300" y="540476"/>
                    <a:pt x="13595" y="531771"/>
                  </a:cubicBezTo>
                  <a:cubicBezTo>
                    <a:pt x="4890" y="523066"/>
                    <a:pt x="0" y="511260"/>
                    <a:pt x="0" y="498949"/>
                  </a:cubicBezTo>
                  <a:lnTo>
                    <a:pt x="0" y="46417"/>
                  </a:lnTo>
                  <a:cubicBezTo>
                    <a:pt x="0" y="20781"/>
                    <a:pt x="20781" y="0"/>
                    <a:pt x="46417" y="0"/>
                  </a:cubicBezTo>
                  <a:close/>
                </a:path>
              </a:pathLst>
            </a:custGeom>
            <a:solidFill>
              <a:srgbClr val="FFF0A4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853300" cy="592991"/>
            </a:xfrm>
            <a:prstGeom prst="rect">
              <a:avLst/>
            </a:prstGeom>
          </p:spPr>
          <p:txBody>
            <a:bodyPr anchor="ctr" rtlCol="false" tIns="36613" lIns="36613" bIns="36613" rIns="36613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138444" y="6414144"/>
            <a:ext cx="2305088" cy="1467031"/>
            <a:chOff x="0" y="0"/>
            <a:chExt cx="842338" cy="53609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42338" cy="536090"/>
            </a:xfrm>
            <a:custGeom>
              <a:avLst/>
              <a:gdLst/>
              <a:ahLst/>
              <a:cxnLst/>
              <a:rect r="r" b="b" t="t" l="l"/>
              <a:pathLst>
                <a:path h="536090" w="842338">
                  <a:moveTo>
                    <a:pt x="47021" y="0"/>
                  </a:moveTo>
                  <a:lnTo>
                    <a:pt x="795317" y="0"/>
                  </a:lnTo>
                  <a:cubicBezTo>
                    <a:pt x="821286" y="0"/>
                    <a:pt x="842338" y="21052"/>
                    <a:pt x="842338" y="47021"/>
                  </a:cubicBezTo>
                  <a:lnTo>
                    <a:pt x="842338" y="489070"/>
                  </a:lnTo>
                  <a:cubicBezTo>
                    <a:pt x="842338" y="501540"/>
                    <a:pt x="837384" y="513500"/>
                    <a:pt x="828566" y="522318"/>
                  </a:cubicBezTo>
                  <a:cubicBezTo>
                    <a:pt x="819747" y="531136"/>
                    <a:pt x="807788" y="536090"/>
                    <a:pt x="795317" y="536090"/>
                  </a:cubicBezTo>
                  <a:lnTo>
                    <a:pt x="47021" y="536090"/>
                  </a:lnTo>
                  <a:cubicBezTo>
                    <a:pt x="34550" y="536090"/>
                    <a:pt x="22590" y="531136"/>
                    <a:pt x="13772" y="522318"/>
                  </a:cubicBezTo>
                  <a:cubicBezTo>
                    <a:pt x="4954" y="513500"/>
                    <a:pt x="0" y="501540"/>
                    <a:pt x="0" y="489070"/>
                  </a:cubicBezTo>
                  <a:lnTo>
                    <a:pt x="0" y="47021"/>
                  </a:lnTo>
                  <a:cubicBezTo>
                    <a:pt x="0" y="34550"/>
                    <a:pt x="4954" y="22590"/>
                    <a:pt x="13772" y="13772"/>
                  </a:cubicBezTo>
                  <a:cubicBezTo>
                    <a:pt x="22590" y="4954"/>
                    <a:pt x="34550" y="0"/>
                    <a:pt x="47021" y="0"/>
                  </a:cubicBezTo>
                  <a:close/>
                </a:path>
              </a:pathLst>
            </a:custGeom>
            <a:solidFill>
              <a:srgbClr val="FFFBEC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842338" cy="583715"/>
            </a:xfrm>
            <a:prstGeom prst="rect">
              <a:avLst/>
            </a:prstGeom>
          </p:spPr>
          <p:txBody>
            <a:bodyPr anchor="ctr" rtlCol="false" tIns="36613" lIns="36613" bIns="36613" rIns="36613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144513" y="3100114"/>
            <a:ext cx="2335086" cy="1492414"/>
            <a:chOff x="0" y="0"/>
            <a:chExt cx="853300" cy="54536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3300" cy="545366"/>
            </a:xfrm>
            <a:custGeom>
              <a:avLst/>
              <a:gdLst/>
              <a:ahLst/>
              <a:cxnLst/>
              <a:rect r="r" b="b" t="t" l="l"/>
              <a:pathLst>
                <a:path h="545366" w="853300">
                  <a:moveTo>
                    <a:pt x="46417" y="0"/>
                  </a:moveTo>
                  <a:lnTo>
                    <a:pt x="806883" y="0"/>
                  </a:lnTo>
                  <a:cubicBezTo>
                    <a:pt x="832518" y="0"/>
                    <a:pt x="853300" y="20781"/>
                    <a:pt x="853300" y="46417"/>
                  </a:cubicBezTo>
                  <a:lnTo>
                    <a:pt x="853300" y="498949"/>
                  </a:lnTo>
                  <a:cubicBezTo>
                    <a:pt x="853300" y="524585"/>
                    <a:pt x="832518" y="545366"/>
                    <a:pt x="806883" y="545366"/>
                  </a:cubicBezTo>
                  <a:lnTo>
                    <a:pt x="46417" y="545366"/>
                  </a:lnTo>
                  <a:cubicBezTo>
                    <a:pt x="34106" y="545366"/>
                    <a:pt x="22300" y="540476"/>
                    <a:pt x="13595" y="531771"/>
                  </a:cubicBezTo>
                  <a:cubicBezTo>
                    <a:pt x="4890" y="523066"/>
                    <a:pt x="0" y="511260"/>
                    <a:pt x="0" y="498949"/>
                  </a:cubicBezTo>
                  <a:lnTo>
                    <a:pt x="0" y="46417"/>
                  </a:lnTo>
                  <a:cubicBezTo>
                    <a:pt x="0" y="20781"/>
                    <a:pt x="20781" y="0"/>
                    <a:pt x="46417" y="0"/>
                  </a:cubicBezTo>
                  <a:close/>
                </a:path>
              </a:pathLst>
            </a:custGeom>
            <a:solidFill>
              <a:srgbClr val="BCF7D1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53300" cy="592991"/>
            </a:xfrm>
            <a:prstGeom prst="rect">
              <a:avLst/>
            </a:prstGeom>
          </p:spPr>
          <p:txBody>
            <a:bodyPr anchor="ctr" rtlCol="false" tIns="36613" lIns="36613" bIns="36613" rIns="36613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159512" y="3112806"/>
            <a:ext cx="2305088" cy="1467031"/>
            <a:chOff x="0" y="0"/>
            <a:chExt cx="842338" cy="53609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42338" cy="536090"/>
            </a:xfrm>
            <a:custGeom>
              <a:avLst/>
              <a:gdLst/>
              <a:ahLst/>
              <a:cxnLst/>
              <a:rect r="r" b="b" t="t" l="l"/>
              <a:pathLst>
                <a:path h="536090" w="842338">
                  <a:moveTo>
                    <a:pt x="47021" y="0"/>
                  </a:moveTo>
                  <a:lnTo>
                    <a:pt x="795317" y="0"/>
                  </a:lnTo>
                  <a:cubicBezTo>
                    <a:pt x="821286" y="0"/>
                    <a:pt x="842338" y="21052"/>
                    <a:pt x="842338" y="47021"/>
                  </a:cubicBezTo>
                  <a:lnTo>
                    <a:pt x="842338" y="489070"/>
                  </a:lnTo>
                  <a:cubicBezTo>
                    <a:pt x="842338" y="501540"/>
                    <a:pt x="837384" y="513500"/>
                    <a:pt x="828566" y="522318"/>
                  </a:cubicBezTo>
                  <a:cubicBezTo>
                    <a:pt x="819747" y="531136"/>
                    <a:pt x="807788" y="536090"/>
                    <a:pt x="795317" y="536090"/>
                  </a:cubicBezTo>
                  <a:lnTo>
                    <a:pt x="47021" y="536090"/>
                  </a:lnTo>
                  <a:cubicBezTo>
                    <a:pt x="34550" y="536090"/>
                    <a:pt x="22590" y="531136"/>
                    <a:pt x="13772" y="522318"/>
                  </a:cubicBezTo>
                  <a:cubicBezTo>
                    <a:pt x="4954" y="513500"/>
                    <a:pt x="0" y="501540"/>
                    <a:pt x="0" y="489070"/>
                  </a:cubicBezTo>
                  <a:lnTo>
                    <a:pt x="0" y="47021"/>
                  </a:lnTo>
                  <a:cubicBezTo>
                    <a:pt x="0" y="34550"/>
                    <a:pt x="4954" y="22590"/>
                    <a:pt x="13772" y="13772"/>
                  </a:cubicBezTo>
                  <a:cubicBezTo>
                    <a:pt x="22590" y="4954"/>
                    <a:pt x="34550" y="0"/>
                    <a:pt x="47021" y="0"/>
                  </a:cubicBez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42338" cy="583715"/>
            </a:xfrm>
            <a:prstGeom prst="rect">
              <a:avLst/>
            </a:prstGeom>
          </p:spPr>
          <p:txBody>
            <a:bodyPr anchor="ctr" rtlCol="false" tIns="36613" lIns="36613" bIns="36613" rIns="36613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123445" y="1503651"/>
            <a:ext cx="2325019" cy="1485980"/>
            <a:chOff x="0" y="0"/>
            <a:chExt cx="853300" cy="54536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53300" cy="545366"/>
            </a:xfrm>
            <a:custGeom>
              <a:avLst/>
              <a:gdLst/>
              <a:ahLst/>
              <a:cxnLst/>
              <a:rect r="r" b="b" t="t" l="l"/>
              <a:pathLst>
                <a:path h="545366" w="853300">
                  <a:moveTo>
                    <a:pt x="46618" y="0"/>
                  </a:moveTo>
                  <a:lnTo>
                    <a:pt x="806682" y="0"/>
                  </a:lnTo>
                  <a:cubicBezTo>
                    <a:pt x="832428" y="0"/>
                    <a:pt x="853300" y="20871"/>
                    <a:pt x="853300" y="46618"/>
                  </a:cubicBezTo>
                  <a:lnTo>
                    <a:pt x="853300" y="498748"/>
                  </a:lnTo>
                  <a:cubicBezTo>
                    <a:pt x="853300" y="511112"/>
                    <a:pt x="848388" y="522969"/>
                    <a:pt x="839646" y="531712"/>
                  </a:cubicBezTo>
                  <a:cubicBezTo>
                    <a:pt x="830903" y="540455"/>
                    <a:pt x="819046" y="545366"/>
                    <a:pt x="806682" y="545366"/>
                  </a:cubicBezTo>
                  <a:lnTo>
                    <a:pt x="46618" y="545366"/>
                  </a:lnTo>
                  <a:cubicBezTo>
                    <a:pt x="34254" y="545366"/>
                    <a:pt x="22396" y="540455"/>
                    <a:pt x="13654" y="531712"/>
                  </a:cubicBezTo>
                  <a:cubicBezTo>
                    <a:pt x="4911" y="522969"/>
                    <a:pt x="0" y="511112"/>
                    <a:pt x="0" y="498748"/>
                  </a:cubicBezTo>
                  <a:lnTo>
                    <a:pt x="0" y="46618"/>
                  </a:lnTo>
                  <a:cubicBezTo>
                    <a:pt x="0" y="34254"/>
                    <a:pt x="4911" y="22396"/>
                    <a:pt x="13654" y="13654"/>
                  </a:cubicBezTo>
                  <a:cubicBezTo>
                    <a:pt x="22396" y="4911"/>
                    <a:pt x="34254" y="0"/>
                    <a:pt x="46618" y="0"/>
                  </a:cubicBezTo>
                  <a:close/>
                </a:path>
              </a:pathLst>
            </a:custGeom>
            <a:solidFill>
              <a:srgbClr val="DEECFC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853300" cy="592991"/>
            </a:xfrm>
            <a:prstGeom prst="rect">
              <a:avLst/>
            </a:prstGeom>
          </p:spPr>
          <p:txBody>
            <a:bodyPr anchor="ctr" rtlCol="false" tIns="36455" lIns="36455" bIns="36455" rIns="36455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138380" y="1516288"/>
            <a:ext cx="2295151" cy="1460707"/>
            <a:chOff x="0" y="0"/>
            <a:chExt cx="842338" cy="53609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42338" cy="536090"/>
            </a:xfrm>
            <a:custGeom>
              <a:avLst/>
              <a:gdLst/>
              <a:ahLst/>
              <a:cxnLst/>
              <a:rect r="r" b="b" t="t" l="l"/>
              <a:pathLst>
                <a:path h="536090" w="842338">
                  <a:moveTo>
                    <a:pt x="47224" y="0"/>
                  </a:moveTo>
                  <a:lnTo>
                    <a:pt x="795113" y="0"/>
                  </a:lnTo>
                  <a:cubicBezTo>
                    <a:pt x="821195" y="0"/>
                    <a:pt x="842338" y="21143"/>
                    <a:pt x="842338" y="47224"/>
                  </a:cubicBezTo>
                  <a:lnTo>
                    <a:pt x="842338" y="488866"/>
                  </a:lnTo>
                  <a:cubicBezTo>
                    <a:pt x="842338" y="514947"/>
                    <a:pt x="821195" y="536090"/>
                    <a:pt x="795113" y="536090"/>
                  </a:cubicBezTo>
                  <a:lnTo>
                    <a:pt x="47224" y="536090"/>
                  </a:lnTo>
                  <a:cubicBezTo>
                    <a:pt x="34700" y="536090"/>
                    <a:pt x="22688" y="531115"/>
                    <a:pt x="13832" y="522259"/>
                  </a:cubicBezTo>
                  <a:cubicBezTo>
                    <a:pt x="4975" y="513402"/>
                    <a:pt x="0" y="501391"/>
                    <a:pt x="0" y="488866"/>
                  </a:cubicBezTo>
                  <a:lnTo>
                    <a:pt x="0" y="47224"/>
                  </a:lnTo>
                  <a:cubicBezTo>
                    <a:pt x="0" y="21143"/>
                    <a:pt x="21143" y="0"/>
                    <a:pt x="47224" y="0"/>
                  </a:cubicBezTo>
                  <a:close/>
                </a:path>
              </a:pathLst>
            </a:custGeom>
            <a:solidFill>
              <a:srgbClr val="EFF6FE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842338" cy="583715"/>
            </a:xfrm>
            <a:prstGeom prst="rect">
              <a:avLst/>
            </a:prstGeom>
          </p:spPr>
          <p:txBody>
            <a:bodyPr anchor="ctr" rtlCol="false" tIns="36455" lIns="36455" bIns="36455" rIns="36455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144513" y="4722963"/>
            <a:ext cx="2335086" cy="1492414"/>
            <a:chOff x="0" y="0"/>
            <a:chExt cx="853300" cy="54536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300" cy="545366"/>
            </a:xfrm>
            <a:custGeom>
              <a:avLst/>
              <a:gdLst/>
              <a:ahLst/>
              <a:cxnLst/>
              <a:rect r="r" b="b" t="t" l="l"/>
              <a:pathLst>
                <a:path h="545366" w="853300">
                  <a:moveTo>
                    <a:pt x="46417" y="0"/>
                  </a:moveTo>
                  <a:lnTo>
                    <a:pt x="806883" y="0"/>
                  </a:lnTo>
                  <a:cubicBezTo>
                    <a:pt x="832518" y="0"/>
                    <a:pt x="853300" y="20781"/>
                    <a:pt x="853300" y="46417"/>
                  </a:cubicBezTo>
                  <a:lnTo>
                    <a:pt x="853300" y="498949"/>
                  </a:lnTo>
                  <a:cubicBezTo>
                    <a:pt x="853300" y="524585"/>
                    <a:pt x="832518" y="545366"/>
                    <a:pt x="806883" y="545366"/>
                  </a:cubicBezTo>
                  <a:lnTo>
                    <a:pt x="46417" y="545366"/>
                  </a:lnTo>
                  <a:cubicBezTo>
                    <a:pt x="34106" y="545366"/>
                    <a:pt x="22300" y="540476"/>
                    <a:pt x="13595" y="531771"/>
                  </a:cubicBezTo>
                  <a:cubicBezTo>
                    <a:pt x="4890" y="523066"/>
                    <a:pt x="0" y="511260"/>
                    <a:pt x="0" y="498949"/>
                  </a:cubicBezTo>
                  <a:lnTo>
                    <a:pt x="0" y="46417"/>
                  </a:lnTo>
                  <a:cubicBezTo>
                    <a:pt x="0" y="20781"/>
                    <a:pt x="20781" y="0"/>
                    <a:pt x="46417" y="0"/>
                  </a:cubicBezTo>
                  <a:close/>
                </a:path>
              </a:pathLst>
            </a:custGeom>
            <a:solidFill>
              <a:srgbClr val="E9D5FC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853300" cy="592991"/>
            </a:xfrm>
            <a:prstGeom prst="rect">
              <a:avLst/>
            </a:prstGeom>
          </p:spPr>
          <p:txBody>
            <a:bodyPr anchor="ctr" rtlCol="false" tIns="36613" lIns="36613" bIns="36613" rIns="36613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159512" y="4735654"/>
            <a:ext cx="2305088" cy="1467031"/>
            <a:chOff x="0" y="0"/>
            <a:chExt cx="842338" cy="53609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42338" cy="536090"/>
            </a:xfrm>
            <a:custGeom>
              <a:avLst/>
              <a:gdLst/>
              <a:ahLst/>
              <a:cxnLst/>
              <a:rect r="r" b="b" t="t" l="l"/>
              <a:pathLst>
                <a:path h="536090" w="842338">
                  <a:moveTo>
                    <a:pt x="47021" y="0"/>
                  </a:moveTo>
                  <a:lnTo>
                    <a:pt x="795317" y="0"/>
                  </a:lnTo>
                  <a:cubicBezTo>
                    <a:pt x="821286" y="0"/>
                    <a:pt x="842338" y="21052"/>
                    <a:pt x="842338" y="47021"/>
                  </a:cubicBezTo>
                  <a:lnTo>
                    <a:pt x="842338" y="489070"/>
                  </a:lnTo>
                  <a:cubicBezTo>
                    <a:pt x="842338" y="501540"/>
                    <a:pt x="837384" y="513500"/>
                    <a:pt x="828566" y="522318"/>
                  </a:cubicBezTo>
                  <a:cubicBezTo>
                    <a:pt x="819747" y="531136"/>
                    <a:pt x="807788" y="536090"/>
                    <a:pt x="795317" y="536090"/>
                  </a:cubicBezTo>
                  <a:lnTo>
                    <a:pt x="47021" y="536090"/>
                  </a:lnTo>
                  <a:cubicBezTo>
                    <a:pt x="34550" y="536090"/>
                    <a:pt x="22590" y="531136"/>
                    <a:pt x="13772" y="522318"/>
                  </a:cubicBezTo>
                  <a:cubicBezTo>
                    <a:pt x="4954" y="513500"/>
                    <a:pt x="0" y="501540"/>
                    <a:pt x="0" y="489070"/>
                  </a:cubicBezTo>
                  <a:lnTo>
                    <a:pt x="0" y="47021"/>
                  </a:lnTo>
                  <a:cubicBezTo>
                    <a:pt x="0" y="34550"/>
                    <a:pt x="4954" y="22590"/>
                    <a:pt x="13772" y="13772"/>
                  </a:cubicBezTo>
                  <a:cubicBezTo>
                    <a:pt x="22590" y="4954"/>
                    <a:pt x="34550" y="0"/>
                    <a:pt x="47021" y="0"/>
                  </a:cubicBezTo>
                  <a:close/>
                </a:path>
              </a:pathLst>
            </a:custGeom>
            <a:solidFill>
              <a:srgbClr val="FBF5FE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842338" cy="583715"/>
            </a:xfrm>
            <a:prstGeom prst="rect">
              <a:avLst/>
            </a:prstGeom>
          </p:spPr>
          <p:txBody>
            <a:bodyPr anchor="ctr" rtlCol="false" tIns="36613" lIns="36613" bIns="36613" rIns="36613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092231" y="8023668"/>
            <a:ext cx="2335086" cy="1492414"/>
            <a:chOff x="0" y="0"/>
            <a:chExt cx="853300" cy="54536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53300" cy="545366"/>
            </a:xfrm>
            <a:custGeom>
              <a:avLst/>
              <a:gdLst/>
              <a:ahLst/>
              <a:cxnLst/>
              <a:rect r="r" b="b" t="t" l="l"/>
              <a:pathLst>
                <a:path h="545366" w="853300">
                  <a:moveTo>
                    <a:pt x="46417" y="0"/>
                  </a:moveTo>
                  <a:lnTo>
                    <a:pt x="806883" y="0"/>
                  </a:lnTo>
                  <a:cubicBezTo>
                    <a:pt x="832518" y="0"/>
                    <a:pt x="853300" y="20781"/>
                    <a:pt x="853300" y="46417"/>
                  </a:cubicBezTo>
                  <a:lnTo>
                    <a:pt x="853300" y="498949"/>
                  </a:lnTo>
                  <a:cubicBezTo>
                    <a:pt x="853300" y="524585"/>
                    <a:pt x="832518" y="545366"/>
                    <a:pt x="806883" y="545366"/>
                  </a:cubicBezTo>
                  <a:lnTo>
                    <a:pt x="46417" y="545366"/>
                  </a:lnTo>
                  <a:cubicBezTo>
                    <a:pt x="34106" y="545366"/>
                    <a:pt x="22300" y="540476"/>
                    <a:pt x="13595" y="531771"/>
                  </a:cubicBezTo>
                  <a:cubicBezTo>
                    <a:pt x="4890" y="523066"/>
                    <a:pt x="0" y="511260"/>
                    <a:pt x="0" y="498949"/>
                  </a:cubicBezTo>
                  <a:lnTo>
                    <a:pt x="0" y="46417"/>
                  </a:lnTo>
                  <a:cubicBezTo>
                    <a:pt x="0" y="20781"/>
                    <a:pt x="20781" y="0"/>
                    <a:pt x="46417" y="0"/>
                  </a:cubicBezTo>
                  <a:close/>
                </a:path>
              </a:pathLst>
            </a:custGeom>
            <a:solidFill>
              <a:srgbClr val="F9D6D6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853300" cy="592991"/>
            </a:xfrm>
            <a:prstGeom prst="rect">
              <a:avLst/>
            </a:prstGeom>
          </p:spPr>
          <p:txBody>
            <a:bodyPr anchor="ctr" rtlCol="false" tIns="36613" lIns="36613" bIns="36613" rIns="36613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107230" y="8036359"/>
            <a:ext cx="2305088" cy="1467031"/>
            <a:chOff x="0" y="0"/>
            <a:chExt cx="842338" cy="53609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42338" cy="536090"/>
            </a:xfrm>
            <a:custGeom>
              <a:avLst/>
              <a:gdLst/>
              <a:ahLst/>
              <a:cxnLst/>
              <a:rect r="r" b="b" t="t" l="l"/>
              <a:pathLst>
                <a:path h="536090" w="842338">
                  <a:moveTo>
                    <a:pt x="47021" y="0"/>
                  </a:moveTo>
                  <a:lnTo>
                    <a:pt x="795317" y="0"/>
                  </a:lnTo>
                  <a:cubicBezTo>
                    <a:pt x="821286" y="0"/>
                    <a:pt x="842338" y="21052"/>
                    <a:pt x="842338" y="47021"/>
                  </a:cubicBezTo>
                  <a:lnTo>
                    <a:pt x="842338" y="489070"/>
                  </a:lnTo>
                  <a:cubicBezTo>
                    <a:pt x="842338" y="501540"/>
                    <a:pt x="837384" y="513500"/>
                    <a:pt x="828566" y="522318"/>
                  </a:cubicBezTo>
                  <a:cubicBezTo>
                    <a:pt x="819747" y="531136"/>
                    <a:pt x="807788" y="536090"/>
                    <a:pt x="795317" y="536090"/>
                  </a:cubicBezTo>
                  <a:lnTo>
                    <a:pt x="47021" y="536090"/>
                  </a:lnTo>
                  <a:cubicBezTo>
                    <a:pt x="34550" y="536090"/>
                    <a:pt x="22590" y="531136"/>
                    <a:pt x="13772" y="522318"/>
                  </a:cubicBezTo>
                  <a:cubicBezTo>
                    <a:pt x="4954" y="513500"/>
                    <a:pt x="0" y="501540"/>
                    <a:pt x="0" y="489070"/>
                  </a:cubicBezTo>
                  <a:lnTo>
                    <a:pt x="0" y="47021"/>
                  </a:lnTo>
                  <a:cubicBezTo>
                    <a:pt x="0" y="34550"/>
                    <a:pt x="4954" y="22590"/>
                    <a:pt x="13772" y="13772"/>
                  </a:cubicBezTo>
                  <a:cubicBezTo>
                    <a:pt x="22590" y="4954"/>
                    <a:pt x="34550" y="0"/>
                    <a:pt x="47021" y="0"/>
                  </a:cubicBezTo>
                  <a:close/>
                </a:path>
              </a:pathLst>
            </a:custGeom>
            <a:solidFill>
              <a:srgbClr val="FDF3F2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842338" cy="583715"/>
            </a:xfrm>
            <a:prstGeom prst="rect">
              <a:avLst/>
            </a:prstGeom>
          </p:spPr>
          <p:txBody>
            <a:bodyPr anchor="ctr" rtlCol="false" tIns="36613" lIns="36613" bIns="36613" rIns="36613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4363249" y="1626291"/>
            <a:ext cx="1922670" cy="33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0"/>
              </a:lnSpc>
            </a:pPr>
            <a:r>
              <a:rPr lang="en-US" sz="1621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Trend Indicators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280869" y="2028666"/>
            <a:ext cx="1968912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ma5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4280869" y="2316995"/>
            <a:ext cx="1968912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ma20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4280869" y="2605325"/>
            <a:ext cx="2362694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ma5_ratio</a:t>
            </a:r>
          </a:p>
        </p:txBody>
      </p:sp>
      <p:grpSp>
        <p:nvGrpSpPr>
          <p:cNvPr name="Group 97" id="97"/>
          <p:cNvGrpSpPr>
            <a:grpSpLocks noChangeAspect="true"/>
          </p:cNvGrpSpPr>
          <p:nvPr/>
        </p:nvGrpSpPr>
        <p:grpSpPr>
          <a:xfrm rot="0">
            <a:off x="14239873" y="4974891"/>
            <a:ext cx="247140" cy="329520"/>
            <a:chOff x="0" y="0"/>
            <a:chExt cx="457200" cy="609600"/>
          </a:xfrm>
        </p:grpSpPr>
        <p:sp>
          <p:nvSpPr>
            <p:cNvPr name="Freeform 98" id="98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14610582" y="4803696"/>
            <a:ext cx="1639392" cy="62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0"/>
              </a:lnSpc>
            </a:pPr>
            <a:r>
              <a:rPr lang="en-US" sz="1621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Momentum &amp; Volatility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281062" y="5494400"/>
            <a:ext cx="1968912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rsi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4281062" y="5782729"/>
            <a:ext cx="2362694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volatility_5</a:t>
            </a:r>
          </a:p>
        </p:txBody>
      </p:sp>
      <p:grpSp>
        <p:nvGrpSpPr>
          <p:cNvPr name="Group 102" id="102"/>
          <p:cNvGrpSpPr>
            <a:grpSpLocks noChangeAspect="true"/>
          </p:cNvGrpSpPr>
          <p:nvPr/>
        </p:nvGrpSpPr>
        <p:grpSpPr>
          <a:xfrm rot="0">
            <a:off x="14239873" y="6653381"/>
            <a:ext cx="247140" cy="329520"/>
            <a:chOff x="0" y="0"/>
            <a:chExt cx="457200" cy="609600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04" id="104"/>
          <p:cNvSpPr txBox="true"/>
          <p:nvPr/>
        </p:nvSpPr>
        <p:spPr>
          <a:xfrm rot="0">
            <a:off x="14610582" y="6482186"/>
            <a:ext cx="1639392" cy="62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0"/>
              </a:lnSpc>
            </a:pPr>
            <a:r>
              <a:rPr lang="en-US" sz="1621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Temporal Memory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4281062" y="7172890"/>
            <a:ext cx="2362694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close_lag1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4281062" y="7461219"/>
            <a:ext cx="2362694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volume_lag1</a:t>
            </a:r>
          </a:p>
        </p:txBody>
      </p:sp>
      <p:grpSp>
        <p:nvGrpSpPr>
          <p:cNvPr name="Group 107" id="107"/>
          <p:cNvGrpSpPr>
            <a:grpSpLocks noChangeAspect="true"/>
          </p:cNvGrpSpPr>
          <p:nvPr/>
        </p:nvGrpSpPr>
        <p:grpSpPr>
          <a:xfrm rot="0">
            <a:off x="14239873" y="8280383"/>
            <a:ext cx="247140" cy="329520"/>
            <a:chOff x="0" y="0"/>
            <a:chExt cx="457200" cy="609600"/>
          </a:xfrm>
        </p:grpSpPr>
        <p:sp>
          <p:nvSpPr>
            <p:cNvPr name="Freeform 108" id="108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109" id="109"/>
          <p:cNvSpPr txBox="true"/>
          <p:nvPr/>
        </p:nvSpPr>
        <p:spPr>
          <a:xfrm rot="0">
            <a:off x="14610582" y="8109188"/>
            <a:ext cx="1639231" cy="62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0"/>
              </a:lnSpc>
            </a:pPr>
            <a:r>
              <a:rPr lang="en-US" sz="1621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Sentiment Features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4281062" y="8799892"/>
            <a:ext cx="2362500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daily_sentiment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4281062" y="9088222"/>
            <a:ext cx="2362500" cy="30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783" indent="-117391" lvl="1">
              <a:lnSpc>
                <a:spcPts val="1945"/>
              </a:lnSpc>
              <a:buFont typeface="Arial"/>
              <a:buChar char="•"/>
            </a:pPr>
            <a:r>
              <a:rPr lang="en-US" sz="1297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sentiment_lag1</a:t>
            </a:r>
          </a:p>
        </p:txBody>
      </p:sp>
      <p:grpSp>
        <p:nvGrpSpPr>
          <p:cNvPr name="Group 112" id="112"/>
          <p:cNvGrpSpPr>
            <a:grpSpLocks noChangeAspect="true"/>
          </p:cNvGrpSpPr>
          <p:nvPr/>
        </p:nvGrpSpPr>
        <p:grpSpPr>
          <a:xfrm rot="0">
            <a:off x="14288586" y="3286378"/>
            <a:ext cx="219897" cy="293196"/>
            <a:chOff x="0" y="0"/>
            <a:chExt cx="457200" cy="609600"/>
          </a:xfrm>
        </p:grpSpPr>
        <p:sp>
          <p:nvSpPr>
            <p:cNvPr name="Freeform 113" id="113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114" id="114"/>
          <p:cNvSpPr txBox="true"/>
          <p:nvPr/>
        </p:nvSpPr>
        <p:spPr>
          <a:xfrm rot="0">
            <a:off x="14618432" y="3138330"/>
            <a:ext cx="1458538" cy="55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sz="1442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Price &amp; Volume Basics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4325236" y="3751847"/>
            <a:ext cx="1751734" cy="26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8902" indent="-104451" lvl="1">
              <a:lnSpc>
                <a:spcPts val="1731"/>
              </a:lnSpc>
              <a:buFont typeface="Arial"/>
              <a:buChar char="•"/>
            </a:pPr>
            <a:r>
              <a:rPr lang="en-US" sz="1154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4325236" y="4008394"/>
            <a:ext cx="1751734" cy="26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8902" indent="-104451" lvl="1">
              <a:lnSpc>
                <a:spcPts val="1731"/>
              </a:lnSpc>
              <a:buFont typeface="Arial"/>
              <a:buChar char="•"/>
            </a:pPr>
            <a:r>
              <a:rPr lang="en-US" sz="1154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4325236" y="4264941"/>
            <a:ext cx="2102081" cy="26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8902" indent="-104451" lvl="1">
              <a:lnSpc>
                <a:spcPts val="1731"/>
              </a:lnSpc>
              <a:buFont typeface="Arial"/>
              <a:buChar char="•"/>
            </a:pPr>
            <a:r>
              <a:rPr lang="en-US" sz="1154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price_range</a:t>
            </a:r>
          </a:p>
        </p:txBody>
      </p:sp>
      <p:grpSp>
        <p:nvGrpSpPr>
          <p:cNvPr name="Group 118" id="118"/>
          <p:cNvGrpSpPr>
            <a:grpSpLocks noChangeAspect="true"/>
          </p:cNvGrpSpPr>
          <p:nvPr/>
        </p:nvGrpSpPr>
        <p:grpSpPr>
          <a:xfrm rot="0">
            <a:off x="14267734" y="1131570"/>
            <a:ext cx="1828800" cy="57150"/>
            <a:chOff x="0" y="0"/>
            <a:chExt cx="2438400" cy="762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34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0" id="120"/>
          <p:cNvSpPr txBox="true"/>
          <p:nvPr/>
        </p:nvSpPr>
        <p:spPr>
          <a:xfrm rot="0">
            <a:off x="14267734" y="455295"/>
            <a:ext cx="2144207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F</a:t>
            </a: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eatures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71500" y="1257300"/>
            <a:ext cx="1828800" cy="57150"/>
            <a:chOff x="0" y="0"/>
            <a:chExt cx="2438400" cy="76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571500" y="2068155"/>
            <a:ext cx="9944100" cy="5398220"/>
            <a:chOff x="0" y="0"/>
            <a:chExt cx="13258800" cy="719762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258800" cy="7197598"/>
            </a:xfrm>
            <a:custGeom>
              <a:avLst/>
              <a:gdLst/>
              <a:ahLst/>
              <a:cxnLst/>
              <a:rect r="r" b="b" t="t" l="l"/>
              <a:pathLst>
                <a:path h="7197598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7197598"/>
                  </a:lnTo>
                  <a:lnTo>
                    <a:pt x="0" y="7197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4206552" y="7697430"/>
            <a:ext cx="228600" cy="228600"/>
            <a:chOff x="0" y="0"/>
            <a:chExt cx="304800" cy="304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5715000" y="7697430"/>
            <a:ext cx="228600" cy="228600"/>
            <a:chOff x="0" y="0"/>
            <a:chExt cx="304800" cy="3048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1201400" y="2068155"/>
            <a:ext cx="6515100" cy="1600200"/>
            <a:chOff x="0" y="0"/>
            <a:chExt cx="8686800" cy="21336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86868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430000" y="2211030"/>
            <a:ext cx="385762" cy="342900"/>
            <a:chOff x="0" y="0"/>
            <a:chExt cx="514350" cy="457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1201400" y="4054117"/>
            <a:ext cx="214312" cy="285750"/>
            <a:chOff x="0" y="0"/>
            <a:chExt cx="285750" cy="381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1201400" y="4668480"/>
            <a:ext cx="228600" cy="228600"/>
            <a:chOff x="0" y="0"/>
            <a:chExt cx="304800" cy="3048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1201400" y="5582880"/>
            <a:ext cx="228600" cy="228600"/>
            <a:chOff x="0" y="0"/>
            <a:chExt cx="304800" cy="3048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1201400" y="6497280"/>
            <a:ext cx="285750" cy="228600"/>
            <a:chOff x="0" y="0"/>
            <a:chExt cx="381000" cy="3048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1201400" y="7411680"/>
            <a:ext cx="228600" cy="228600"/>
            <a:chOff x="0" y="0"/>
            <a:chExt cx="304800" cy="3048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71500" y="581025"/>
            <a:ext cx="4658185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Fi</a:t>
            </a: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ndings &amp; Results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49452" y="7621230"/>
            <a:ext cx="9871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57900" y="7621230"/>
            <a:ext cx="9871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30062" y="2125305"/>
            <a:ext cx="75438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SVM Emerges as Top Performer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30000" y="2677755"/>
            <a:ext cx="62865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Support Vector Machine achieved </a:t>
            </a:r>
            <a:r>
              <a:rPr lang="en-US" sz="2025" b="true">
                <a:solidFill>
                  <a:srgbClr val="16A34A"/>
                </a:solidFill>
                <a:latin typeface="Arial Bold"/>
                <a:ea typeface="Arial Bold"/>
                <a:cs typeface="Arial Bold"/>
                <a:sym typeface="Arial Bold"/>
              </a:rPr>
              <a:t>62.4%</a:t>
            </a: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accuracy and </a:t>
            </a:r>
            <a:r>
              <a:rPr lang="en-US" sz="2025" b="true">
                <a:solidFill>
                  <a:srgbClr val="2563EB"/>
                </a:solidFill>
                <a:latin typeface="Arial Bold"/>
                <a:ea typeface="Arial Bold"/>
                <a:cs typeface="Arial Bold"/>
                <a:sym typeface="Arial Bold"/>
              </a:rPr>
              <a:t>0.769</a:t>
            </a: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F1-Score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30012" y="3954105"/>
            <a:ext cx="65151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Key Insights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01450" y="4506555"/>
            <a:ext cx="61150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SVM's Strength:</a:t>
            </a:r>
            <a:r>
              <a:rPr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High recall value of 1.0 correctly identified all "up" days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01450" y="5420955"/>
            <a:ext cx="61150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LSTM's Weakness:</a:t>
            </a:r>
            <a:r>
              <a:rPr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Poor performance with F1-Score of 0.0508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58600" y="6335355"/>
            <a:ext cx="6057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XGBoost's Balance:</a:t>
            </a:r>
            <a:r>
              <a:rPr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F1-Score of 0.5540 showing balanced precision and recall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01450" y="7249755"/>
            <a:ext cx="61150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al Bold"/>
                <a:ea typeface="Arial Bold"/>
                <a:cs typeface="Arial Bold"/>
                <a:sym typeface="Arial Bold"/>
              </a:rPr>
              <a:t>Logistic Regression:</a:t>
            </a:r>
            <a:r>
              <a:rPr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F1-Score of 0.1654 confirming non-linear relationships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1500" y="9382125"/>
            <a:ext cx="50698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Machine Learning for Stock Direction Prediction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15990" y="9382125"/>
            <a:ext cx="600611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71500" y="1257300"/>
            <a:ext cx="1828800" cy="57150"/>
            <a:chOff x="0" y="0"/>
            <a:chExt cx="2438400" cy="76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571500" y="2400300"/>
            <a:ext cx="8401050" cy="1771650"/>
            <a:chOff x="0" y="0"/>
            <a:chExt cx="11201400" cy="2362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12014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2362200"/>
                  </a:lnTo>
                  <a:lnTo>
                    <a:pt x="0" y="236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57250" y="2686050"/>
            <a:ext cx="857250" cy="857250"/>
            <a:chOff x="0" y="0"/>
            <a:chExt cx="1143000" cy="11430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114425" y="2886075"/>
            <a:ext cx="342900" cy="457200"/>
            <a:chOff x="0" y="0"/>
            <a:chExt cx="457200" cy="6096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315450" y="2400300"/>
            <a:ext cx="8401050" cy="1771650"/>
            <a:chOff x="0" y="0"/>
            <a:chExt cx="11201400" cy="23622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2014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2362200"/>
                  </a:lnTo>
                  <a:lnTo>
                    <a:pt x="0" y="236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9601200" y="2686050"/>
            <a:ext cx="857250" cy="857250"/>
            <a:chOff x="0" y="0"/>
            <a:chExt cx="1143000" cy="11430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836944" y="2886075"/>
            <a:ext cx="385762" cy="457200"/>
            <a:chOff x="0" y="0"/>
            <a:chExt cx="514350" cy="6096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1435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571500" y="4514850"/>
            <a:ext cx="8401050" cy="1771650"/>
            <a:chOff x="0" y="0"/>
            <a:chExt cx="11201400" cy="23622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12014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2362200"/>
                  </a:lnTo>
                  <a:lnTo>
                    <a:pt x="0" y="236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857250" y="4800600"/>
            <a:ext cx="857250" cy="857250"/>
            <a:chOff x="0" y="0"/>
            <a:chExt cx="1143000" cy="1143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092994" y="5000625"/>
            <a:ext cx="385762" cy="457200"/>
            <a:chOff x="0" y="0"/>
            <a:chExt cx="514350" cy="6096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1435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9315450" y="4514850"/>
            <a:ext cx="8401050" cy="1771650"/>
            <a:chOff x="0" y="0"/>
            <a:chExt cx="11201400" cy="23622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12014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2362200"/>
                  </a:lnTo>
                  <a:lnTo>
                    <a:pt x="0" y="236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9601200" y="4800600"/>
            <a:ext cx="857250" cy="857250"/>
            <a:chOff x="0" y="0"/>
            <a:chExt cx="1143000" cy="11430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9858375" y="5000625"/>
            <a:ext cx="342900" cy="457200"/>
            <a:chOff x="0" y="0"/>
            <a:chExt cx="457200" cy="6096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571500" y="7315200"/>
            <a:ext cx="17145000" cy="1771650"/>
            <a:chOff x="0" y="0"/>
            <a:chExt cx="22860000" cy="23622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228600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2362200"/>
                  </a:lnTo>
                  <a:lnTo>
                    <a:pt x="0" y="236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857250" y="7658100"/>
            <a:ext cx="285750" cy="285750"/>
            <a:chOff x="0" y="0"/>
            <a:chExt cx="381000" cy="3810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71500" y="581025"/>
            <a:ext cx="20574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Critical Project Limitations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1500" y="1581150"/>
            <a:ext cx="20574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Despite successful model implementation, several critical limitations affected the project's outcomes: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43100" y="2628900"/>
            <a:ext cx="8092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Simulated Sentiment 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43100" y="3124200"/>
            <a:ext cx="67437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Reliance on simulated news sentiment rather than genuine, time-stamped data. This limits real-world predictive power.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87050" y="2628900"/>
            <a:ext cx="67437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Single Stock Focus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87050" y="3124200"/>
            <a:ext cx="67437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Model developed exclusively on data from one stock, limiting generalizability across broader markets.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43100" y="4743450"/>
            <a:ext cx="67437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Basic Feature Set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43100" y="5238750"/>
            <a:ext cx="6743700" cy="69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Relatively simple feature engineering. More sophisticated technical indicators could enhance performance.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687050" y="4743450"/>
            <a:ext cx="8092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Static Sentiment Simulation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687050" y="5238750"/>
            <a:ext cx="67437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Simulation didn't account for dynamic relationships between sentiment spikes and market volatility.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57300" y="7543800"/>
            <a:ext cx="16573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Impact Assessment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7250" y="8039100"/>
            <a:ext cx="165735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These limitations collectively restrict the model's real-world applicability. Addressing them would require acquiring better data sources and expanding the feature set.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71500" y="9382125"/>
            <a:ext cx="50698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Machine Learning for Stock Direction Prediction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215990" y="9382125"/>
            <a:ext cx="600611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71500" y="1257300"/>
            <a:ext cx="1828800" cy="57150"/>
            <a:chOff x="0" y="0"/>
            <a:chExt cx="2438400" cy="76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571500" y="2400300"/>
            <a:ext cx="5486400" cy="3343275"/>
            <a:chOff x="0" y="0"/>
            <a:chExt cx="7315200" cy="44577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315200" cy="4457700"/>
            </a:xfrm>
            <a:custGeom>
              <a:avLst/>
              <a:gdLst/>
              <a:ahLst/>
              <a:cxnLst/>
              <a:rect r="r" b="b" t="t" l="l"/>
              <a:pathLst>
                <a:path h="44577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457700"/>
                  </a:lnTo>
                  <a:lnTo>
                    <a:pt x="0" y="445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2886075" y="2686050"/>
            <a:ext cx="857250" cy="857250"/>
            <a:chOff x="0" y="0"/>
            <a:chExt cx="1143000" cy="11430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3143250" y="2886075"/>
            <a:ext cx="342900" cy="457200"/>
            <a:chOff x="0" y="0"/>
            <a:chExt cx="457200" cy="6096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6400800" y="2400300"/>
            <a:ext cx="5486400" cy="3343275"/>
            <a:chOff x="0" y="0"/>
            <a:chExt cx="7315200" cy="44577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315200" cy="4457700"/>
            </a:xfrm>
            <a:custGeom>
              <a:avLst/>
              <a:gdLst/>
              <a:ahLst/>
              <a:cxnLst/>
              <a:rect r="r" b="b" t="t" l="l"/>
              <a:pathLst>
                <a:path h="44577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457700"/>
                  </a:lnTo>
                  <a:lnTo>
                    <a:pt x="0" y="445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8715375" y="2686050"/>
            <a:ext cx="857250" cy="857250"/>
            <a:chOff x="0" y="0"/>
            <a:chExt cx="1143000" cy="11430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993982" y="2886075"/>
            <a:ext cx="300038" cy="457200"/>
            <a:chOff x="0" y="0"/>
            <a:chExt cx="400050" cy="6096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2230100" y="2400300"/>
            <a:ext cx="5486400" cy="3343275"/>
            <a:chOff x="0" y="0"/>
            <a:chExt cx="7315200" cy="44577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315200" cy="4457700"/>
            </a:xfrm>
            <a:custGeom>
              <a:avLst/>
              <a:gdLst/>
              <a:ahLst/>
              <a:cxnLst/>
              <a:rect r="r" b="b" t="t" l="l"/>
              <a:pathLst>
                <a:path h="44577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457700"/>
                  </a:lnTo>
                  <a:lnTo>
                    <a:pt x="0" y="445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4544675" y="2686050"/>
            <a:ext cx="857250" cy="857250"/>
            <a:chOff x="0" y="0"/>
            <a:chExt cx="1143000" cy="1143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4801850" y="2886075"/>
            <a:ext cx="342900" cy="457200"/>
            <a:chOff x="0" y="0"/>
            <a:chExt cx="457200" cy="6096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571500" y="6086475"/>
            <a:ext cx="5486400" cy="3000375"/>
            <a:chOff x="0" y="0"/>
            <a:chExt cx="7315200" cy="40005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73152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2886075" y="6372225"/>
            <a:ext cx="857250" cy="857250"/>
            <a:chOff x="0" y="0"/>
            <a:chExt cx="1143000" cy="11430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3143250" y="6572250"/>
            <a:ext cx="342900" cy="457200"/>
            <a:chOff x="0" y="0"/>
            <a:chExt cx="457200" cy="6096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6400800" y="6086475"/>
            <a:ext cx="11315700" cy="3000375"/>
            <a:chOff x="0" y="0"/>
            <a:chExt cx="15087600" cy="40005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50876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5087600">
                  <a:moveTo>
                    <a:pt x="0" y="0"/>
                  </a:moveTo>
                  <a:lnTo>
                    <a:pt x="15087600" y="0"/>
                  </a:lnTo>
                  <a:lnTo>
                    <a:pt x="15087600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1630025" y="6372225"/>
            <a:ext cx="857250" cy="857250"/>
            <a:chOff x="0" y="0"/>
            <a:chExt cx="1143000" cy="11430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1844338" y="6572250"/>
            <a:ext cx="428625" cy="457200"/>
            <a:chOff x="0" y="0"/>
            <a:chExt cx="571500" cy="6096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571500" cy="609600"/>
            </a:xfrm>
            <a:custGeom>
              <a:avLst/>
              <a:gdLst/>
              <a:ahLst/>
              <a:cxnLst/>
              <a:rect r="r" b="b" t="t" l="l"/>
              <a:pathLst>
                <a:path h="6096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571500" y="581025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true">
                <a:solidFill>
                  <a:srgbClr val="1F2937"/>
                </a:solidFill>
                <a:latin typeface="Arial Bold"/>
                <a:ea typeface="Arial Bold"/>
                <a:cs typeface="Arial Bold"/>
                <a:sym typeface="Arial Bold"/>
              </a:rPr>
              <a:t>Future Work Recommendations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1500" y="1600200"/>
            <a:ext cx="20574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Key improvements to enhance the stock direction prediction system: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65760" y="3700462"/>
            <a:ext cx="5897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Timestamped News Data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7250" y="4195762"/>
            <a:ext cx="49149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Acquire news articles with exact publication dates for accurate sentiment correlation with stock movements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95060" y="3700462"/>
            <a:ext cx="5897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Expanded Dataset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686550" y="4195762"/>
            <a:ext cx="4914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Utilize 5-10 years of data on multiple stocks for a larger, more diverse dataset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24360" y="3700462"/>
            <a:ext cx="5897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Advanced Features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15850" y="4195762"/>
            <a:ext cx="4914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Explore sophisticated technical indicators and macroeconomic data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65760" y="7386638"/>
            <a:ext cx="58978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Ensemble Modeling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7250" y="7881938"/>
            <a:ext cx="4914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Develop an ensemble of best-performing models to combine their individual strengths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686550" y="7386638"/>
            <a:ext cx="107442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Backtesting Framework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86550" y="7881938"/>
            <a:ext cx="107442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Develop a comprehensive financial backtesting framework that models actual trades, including realistic transaction costs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71500" y="9382125"/>
            <a:ext cx="50698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Machine Learning for Stock Direction Prediction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215990" y="9382125"/>
            <a:ext cx="600611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57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DAG5QjYG0RQ</dc:identifier>
  <dcterms:modified xsi:type="dcterms:W3CDTF">2011-08-01T06:04:30Z</dcterms:modified>
  <cp:revision>1</cp:revision>
  <dc:title>Presentation ML</dc:title>
</cp:coreProperties>
</file>